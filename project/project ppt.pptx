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7"/>
  </p:handoutMasterIdLst>
  <p:sldIdLst>
    <p:sldId id="258" r:id="rId4"/>
    <p:sldId id="377" r:id="rId6"/>
    <p:sldId id="391" r:id="rId7"/>
    <p:sldId id="392" r:id="rId8"/>
    <p:sldId id="393" r:id="rId9"/>
    <p:sldId id="394" r:id="rId10"/>
    <p:sldId id="395" r:id="rId11"/>
    <p:sldId id="396" r:id="rId12"/>
    <p:sldId id="398" r:id="rId13"/>
    <p:sldId id="397" r:id="rId14"/>
    <p:sldId id="374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 showGuides="1">
      <p:cViewPr varScale="1">
        <p:scale>
          <a:sx n="56" d="100"/>
          <a:sy n="56" d="100"/>
        </p:scale>
        <p:origin x="475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microsoft.com/office/2018/10/relationships/authors" Target="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image" Target="../media/image1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r>
              <a:rPr lang="en-US" altLang="en-US" sz="2400" dirty="0">
                <a:latin typeface="+mn-lt"/>
                <a:cs typeface="Arial" panose="020B0604020202020204" pitchFamily="34" charset="0"/>
              </a:rPr>
              <a:t>ContractSentinel AI-Detect Risks. Expose Anomalies. Protect Every </a:t>
            </a:r>
            <a:br>
              <a:rPr lang="en-US" altLang="en-US" sz="2400" dirty="0">
                <a:latin typeface="+mn-lt"/>
                <a:cs typeface="Arial" panose="020B0604020202020204" pitchFamily="34" charset="0"/>
              </a:rPr>
            </a:br>
            <a:r>
              <a:rPr lang="en-US" altLang="en-US" sz="2400" dirty="0">
                <a:latin typeface="+mn-lt"/>
                <a:cs typeface="Arial" panose="020B0604020202020204" pitchFamily="34" charset="0"/>
              </a:rPr>
              <a:t>Contract.</a:t>
            </a: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Dr.Y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Subbarayudu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229360" y="1446530"/>
          <a:ext cx="8930640" cy="13468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5320"/>
                <a:gridCol w="4465320"/>
              </a:tblGrid>
              <a:tr h="448945">
                <a:tc>
                  <a:txBody>
                    <a:bodyPr/>
                    <a:lstStyle/>
                    <a:p>
                      <a:r>
                        <a:rPr lang="en-US" altLang="en-US" dirty="0"/>
                        <a:t>Parvathareddy Pranawreddy</a:t>
                      </a:r>
                      <a:endParaRPr lang="en-US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2520030136</a:t>
                      </a:r>
                      <a:endParaRPr lang="en-US" altLang="en-US" dirty="0"/>
                    </a:p>
                  </a:txBody>
                  <a:tcPr/>
                </a:tc>
              </a:tr>
              <a:tr h="448945">
                <a:tc>
                  <a:txBody>
                    <a:bodyPr/>
                    <a:lstStyle/>
                    <a:p>
                      <a:r>
                        <a:rPr lang="en-US" altLang="en-US" dirty="0"/>
                        <a:t>Potnuru Anudeep</a:t>
                      </a:r>
                      <a:endParaRPr lang="en-US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2520030087</a:t>
                      </a:r>
                      <a:endParaRPr lang="en-US" altLang="en-US" dirty="0"/>
                    </a:p>
                  </a:txBody>
                  <a:tcPr/>
                </a:tc>
              </a:tr>
              <a:tr h="448945">
                <a:tc>
                  <a:txBody>
                    <a:bodyPr/>
                    <a:lstStyle/>
                    <a:p>
                      <a:r>
                        <a:rPr lang="en-IN" altLang="en-US" dirty="0"/>
                        <a:t>Pudota Asritha Chowdary</a:t>
                      </a:r>
                      <a:endParaRPr lang="en-I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altLang="en-US" dirty="0"/>
                        <a:t>2520030592</a:t>
                      </a:r>
                      <a:endParaRPr lang="en-I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graphicFrame>
        <p:nvGraphicFramePr>
          <p:cNvPr id="7" name="Table 10"/>
          <p:cNvGraphicFramePr>
            <a:graphicFrameLocks noGrp="1"/>
          </p:cNvGraphicFramePr>
          <p:nvPr>
            <p:ph idx="1"/>
          </p:nvPr>
        </p:nvGraphicFramePr>
        <p:xfrm>
          <a:off x="838199" y="1416193"/>
          <a:ext cx="10515600" cy="356764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/>
                <a:gridCol w="5257800"/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841"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ym typeface="+mn-ea"/>
                        </a:rPr>
                        <a:t>Parvathareddy Pranawreddy</a:t>
                      </a:r>
                      <a:endParaRPr lang="en-US" altLang="en-US" sz="1800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841">
                <a:tc>
                  <a:txBody>
                    <a:bodyPr/>
                    <a:lstStyle/>
                    <a:p>
                      <a:r>
                        <a:rPr lang="en-US" altLang="en-US" sz="1800" dirty="0">
                          <a:sym typeface="+mn-ea"/>
                        </a:rPr>
                        <a:t>Potnuru Anudeep</a:t>
                      </a:r>
                      <a:endParaRPr lang="en-US" altLang="en-US" sz="1800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altLang="en-US" sz="1800" dirty="0">
                          <a:sym typeface="+mn-ea"/>
                        </a:rPr>
                        <a:t>Pudota Asritha Chowdary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36220" y="1151890"/>
            <a:ext cx="11677650" cy="5459095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ContractSentinel AI is an AI-powered web application for analyzing legal and corporate contracts.</a:t>
            </a:r>
            <a:endParaRPr lang="en-US" altLang="en-US" sz="2400" dirty="0"/>
          </a:p>
          <a:p>
            <a:r>
              <a:rPr lang="en-US" altLang="en-US" sz="2400" dirty="0"/>
              <a:t>It automatically processes PDF and DOCX contracts using AI and Natural Language Processing (NLP).</a:t>
            </a:r>
            <a:endParaRPr lang="en-US" altLang="en-US" sz="2400" dirty="0"/>
          </a:p>
          <a:p>
            <a:r>
              <a:rPr lang="en-US" altLang="en-US" sz="2400" dirty="0"/>
              <a:t>The system extracts and analyzes important clauses such as payment, termination, liability, confidentiality, intellectual property, penalties, and data privacy.</a:t>
            </a:r>
            <a:endParaRPr lang="en-US" altLang="en-US" sz="2400" dirty="0"/>
          </a:p>
          <a:p>
            <a:r>
              <a:rPr lang="en-US" altLang="en-US" sz="2400" dirty="0"/>
              <a:t>It identifies risky clauses, suspicious wording, contradictions, undefined terms, and unfavorable conditions.</a:t>
            </a:r>
            <a:endParaRPr lang="en-US" altLang="en-US" sz="2400" dirty="0"/>
          </a:p>
          <a:p>
            <a:r>
              <a:rPr lang="en-US" altLang="en-US" sz="2400" dirty="0"/>
              <a:t>Each detected risk is assigned a risk level and confidence score.</a:t>
            </a:r>
            <a:endParaRPr lang="en-US" altLang="en-US" sz="2400" dirty="0"/>
          </a:p>
          <a:p>
            <a:r>
              <a:rPr lang="en-US" altLang="en-US" sz="2400" dirty="0"/>
              <a:t>The system provides simple explanations and safer alternatives for problematic clauses.</a:t>
            </a:r>
            <a:endParaRPr lang="en-US" altLang="en-US" sz="2400" dirty="0"/>
          </a:p>
          <a:p>
            <a:r>
              <a:rPr lang="en-US" altLang="en-US" sz="2400" dirty="0"/>
              <a:t>It generates an overall contract risk score and highlights important contractual points.</a:t>
            </a:r>
            <a:endParaRPr lang="en-US" altLang="en-US" sz="2400" dirty="0"/>
          </a:p>
          <a:p>
            <a:r>
              <a:rPr lang="en-US" altLang="en-US" sz="2400" dirty="0"/>
              <a:t>A web dashboard provides summaries, risk indicators, clause highlights, and downloadable reports.</a:t>
            </a:r>
            <a:endParaRPr lang="en-US" altLang="en-US" sz="2400" dirty="0"/>
          </a:p>
          <a:p>
            <a:r>
              <a:rPr lang="en-US" altLang="en-US" sz="2400" dirty="0"/>
              <a:t>The system helps users perform faster and more structured preliminary contract review, while final legal decisions remain with qualified professionals.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368425"/>
            <a:ext cx="10515600" cy="4309110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Contracts contain important legal, financial, and business obligations that can be difficult to understand.</a:t>
            </a:r>
            <a:endParaRPr lang="en-US" altLang="en-US" sz="2400" dirty="0"/>
          </a:p>
          <a:p>
            <a:r>
              <a:rPr lang="en-US" altLang="en-US" sz="2400" dirty="0"/>
              <a:t>Manual contract review is often time-consuming and complex, especially for lengthy agreements.</a:t>
            </a:r>
            <a:endParaRPr lang="en-US" altLang="en-US" sz="2400" dirty="0"/>
          </a:p>
          <a:p>
            <a:r>
              <a:rPr lang="en-US" altLang="en-US" sz="2400" dirty="0"/>
              <a:t>Important risky clauses, hidden conditions, or unfavorable terms may be overlooked during manual review.</a:t>
            </a:r>
            <a:endParaRPr lang="en-US" altLang="en-US" sz="2400" dirty="0"/>
          </a:p>
          <a:p>
            <a:r>
              <a:rPr lang="en-US" altLang="en-US" sz="2400" dirty="0"/>
              <a:t>ContractSentinel AI uses Artificial Intelligence and Natural Language Processing (NLP) to analyze contracts automatically.</a:t>
            </a:r>
            <a:endParaRPr lang="en-US" altLang="en-US" sz="2400" dirty="0"/>
          </a:p>
          <a:p>
            <a:r>
              <a:rPr lang="en-US" altLang="en-US" sz="2400" dirty="0"/>
              <a:t>The system examines individual clauses and identifies potential risks, unusual wording, contradictions, and unfavorable conditions.</a:t>
            </a:r>
            <a:endParaRPr lang="en-US" altLang="en-US" sz="2400" dirty="0"/>
          </a:p>
          <a:p>
            <a:r>
              <a:rPr lang="en-US" altLang="en-US" sz="2400" dirty="0"/>
              <a:t>It provides risk levels, explanations, safer alternatives, and an overall contract risk score.</a:t>
            </a:r>
            <a:endParaRPr lang="en-US" altLang="en-US" sz="2400" dirty="0"/>
          </a:p>
          <a:p>
            <a:r>
              <a:rPr lang="en-US" altLang="en-US" sz="2400" dirty="0"/>
              <a:t>The system aims to make preliminary contract analysis faster, easier, and more structured for users.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Contract review is mainly performed through manual reading and analysis.</a:t>
            </a:r>
            <a:endParaRPr lang="en-US" altLang="en-US" dirty="0"/>
          </a:p>
          <a:p>
            <a:r>
              <a:rPr lang="en-US" altLang="en-US" dirty="0"/>
              <a:t>Reviewing lengthy contracts is time-consuming and requires significant effort.</a:t>
            </a:r>
            <a:endParaRPr lang="en-US" altLang="en-US" dirty="0"/>
          </a:p>
          <a:p>
            <a:r>
              <a:rPr lang="en-US" altLang="en-US" dirty="0"/>
              <a:t>Complex legal language can make it difficult to understand important contractual conditions.</a:t>
            </a:r>
            <a:endParaRPr lang="en-US" altLang="en-US" dirty="0"/>
          </a:p>
          <a:p>
            <a:r>
              <a:rPr lang="en-US" altLang="en-US" dirty="0"/>
              <a:t>Hidden clauses, unfavorable terms, and risky conditions may be overlooked.</a:t>
            </a:r>
            <a:endParaRPr lang="en-US" altLang="en-US" dirty="0"/>
          </a:p>
          <a:p>
            <a:r>
              <a:rPr lang="en-US" altLang="en-US" dirty="0"/>
              <a:t>Existing tools mainly focus on contract summarization rather than detailed risk identification.</a:t>
            </a:r>
            <a:endParaRPr lang="en-US" altLang="en-US" dirty="0"/>
          </a:p>
          <a:p>
            <a:r>
              <a:rPr lang="en-US" altLang="en-US" dirty="0"/>
              <a:t>Basic approaches may not effectively detect ambiguous or suspicious clauses.</a:t>
            </a:r>
            <a:endParaRPr lang="en-US" altLang="en-US" dirty="0"/>
          </a:p>
          <a:p>
            <a:r>
              <a:rPr lang="en-US" altLang="en-US" dirty="0"/>
              <a:t>Manual review can be error-prone, especially when dealing with large contracts.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en-US" dirty="0"/>
              <a:t>Manual contract review is time-consuming and requires significant effort.</a:t>
            </a:r>
            <a:endParaRPr lang="en-US" altLang="en-US" dirty="0"/>
          </a:p>
          <a:p>
            <a:r>
              <a:rPr lang="en-US" altLang="en-US" dirty="0"/>
              <a:t>Lengthy and complex legal language makes contracts difficult to understand.</a:t>
            </a:r>
            <a:endParaRPr lang="en-US" altLang="en-US" dirty="0"/>
          </a:p>
          <a:p>
            <a:r>
              <a:rPr lang="en-US" altLang="en-US" dirty="0"/>
              <a:t>Hidden risks, unfavorable clauses, and important conditions can be missed during review.</a:t>
            </a:r>
            <a:endParaRPr lang="en-US" altLang="en-US" dirty="0"/>
          </a:p>
          <a:p>
            <a:r>
              <a:rPr lang="en-US" altLang="en-US" dirty="0"/>
              <a:t>Existing systems mainly provide summaries but may not effectively identify detailed contractual risks.</a:t>
            </a:r>
            <a:endParaRPr lang="en-US" altLang="en-US" dirty="0"/>
          </a:p>
          <a:p>
            <a:r>
              <a:rPr lang="en-US" altLang="en-US" dirty="0"/>
              <a:t>Users may find it difficult to understand why a particular clause is risky.</a:t>
            </a:r>
            <a:endParaRPr lang="en-US" altLang="en-US" dirty="0"/>
          </a:p>
          <a:p>
            <a:r>
              <a:rPr lang="en-US" altLang="en-US" dirty="0"/>
              <a:t>There is a need for a system that can automatically detect risks, explain them, and suggest safer alternatives.</a:t>
            </a:r>
            <a:endParaRPr lang="en-US" altLang="en-US" dirty="0"/>
          </a:p>
          <a:p>
            <a:r>
              <a:rPr lang="en-US" altLang="en-US" dirty="0"/>
              <a:t>Therefore, ContractSentinel AI aims to make preliminary contract risk analysis faster, easier, and more structured.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r>
              <a:rPr lang="en-US" altLang="en-US" dirty="0"/>
              <a:t>Develop an AI-powered web application to automatically analyze legal and corporate contracts.</a:t>
            </a:r>
            <a:endParaRPr lang="en-US" altLang="en-US" dirty="0"/>
          </a:p>
          <a:p>
            <a:r>
              <a:rPr lang="en-US" altLang="en-US" dirty="0"/>
              <a:t>Support PDF and DOCX contract uploads and extract their text and clauses.</a:t>
            </a:r>
            <a:endParaRPr lang="en-US" altLang="en-US" dirty="0"/>
          </a:p>
          <a:p>
            <a:r>
              <a:rPr lang="en-US" altLang="en-US" dirty="0"/>
              <a:t>Use AI/NLP to identify important contractual clauses and potential risks.</a:t>
            </a:r>
            <a:endParaRPr lang="en-US" altLang="en-US" dirty="0"/>
          </a:p>
          <a:p>
            <a:r>
              <a:rPr lang="en-US" altLang="en-US" dirty="0"/>
              <a:t>Classify identified risks into Low, Medium, and High risk levels.</a:t>
            </a:r>
            <a:endParaRPr lang="en-US" altLang="en-US" dirty="0"/>
          </a:p>
          <a:p>
            <a:r>
              <a:rPr lang="en-US" altLang="en-US" dirty="0"/>
              <a:t>Generate safer alternative clauses for problematic conditions.</a:t>
            </a:r>
            <a:endParaRPr lang="en-US" altLang="en-US" dirty="0"/>
          </a:p>
          <a:p>
            <a:r>
              <a:rPr lang="en-US" altLang="en-US" dirty="0"/>
              <a:t>Calculate an overall contract risk score (0–100) for quick assessment.</a:t>
            </a:r>
            <a:endParaRPr lang="en-US" altLang="en-US" dirty="0"/>
          </a:p>
          <a:p>
            <a:r>
              <a:rPr lang="en-US" altLang="en-US" dirty="0"/>
              <a:t>Provide a simple contract summary highlighting important terms and risks.</a:t>
            </a:r>
            <a:endParaRPr lang="en-US" altLang="en-US" dirty="0"/>
          </a:p>
          <a:p>
            <a:r>
              <a:rPr lang="en-US" altLang="en-US" dirty="0"/>
              <a:t>Display results through an interactive dashboard with risk indicators and clause highlights.</a:t>
            </a:r>
            <a:endParaRPr lang="en-US" altLang="en-US" dirty="0"/>
          </a:p>
          <a:p>
            <a:r>
              <a:rPr lang="en-US" altLang="en-US" dirty="0"/>
              <a:t>Generate downloadable reports containing risk findings and recommendations.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en-US" altLang="en-US" dirty="0"/>
              <a:t>Automated Contract Analysis: Analyze PDF and DOCX contracts with minimal manual effort.</a:t>
            </a:r>
            <a:endParaRPr lang="en-US" altLang="en-US" dirty="0"/>
          </a:p>
          <a:p>
            <a:r>
              <a:rPr lang="en-US" altLang="en-US" dirty="0"/>
              <a:t>Clause Extraction: Identify and extract important contractual clauses and key terms.</a:t>
            </a:r>
            <a:endParaRPr lang="en-US" altLang="en-US" dirty="0"/>
          </a:p>
          <a:p>
            <a:r>
              <a:rPr lang="en-US" altLang="en-US" dirty="0"/>
              <a:t>Risk Classification: Classify clauses into Low, Medium, and High risk levels.</a:t>
            </a:r>
            <a:endParaRPr lang="en-US" altLang="en-US" dirty="0"/>
          </a:p>
          <a:p>
            <a:r>
              <a:rPr lang="en-US" altLang="en-US" dirty="0"/>
              <a:t>Risk Explanation: Clearly explain why a particular clause may be problematic.</a:t>
            </a:r>
            <a:endParaRPr lang="en-US" altLang="en-US" dirty="0"/>
          </a:p>
          <a:p>
            <a:r>
              <a:rPr lang="en-US" altLang="en-US" dirty="0"/>
              <a:t>Safer Alternatives: Suggest safer alternatives for potentially risky clauses.</a:t>
            </a:r>
            <a:endParaRPr lang="en-US" altLang="en-US" dirty="0"/>
          </a:p>
          <a:p>
            <a:r>
              <a:rPr lang="en-US" altLang="en-US" dirty="0"/>
              <a:t>Risk Scoring: Generate an overall contract risk score from 0–100.</a:t>
            </a:r>
            <a:endParaRPr lang="en-US" altLang="en-US" dirty="0"/>
          </a:p>
          <a:p>
            <a:r>
              <a:rPr lang="en-US" altLang="en-US" dirty="0"/>
              <a:t>Contract Summary: Provide a simple summary of important contractual conditions.</a:t>
            </a:r>
            <a:endParaRPr lang="en-US" altLang="en-US" dirty="0"/>
          </a:p>
          <a:p>
            <a:r>
              <a:rPr lang="en-US" altLang="en-US" dirty="0"/>
              <a:t>Report Generation: Generate downloadable reports containing risks, recommendations, and clause annotations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264920"/>
            <a:ext cx="4422775" cy="4912360"/>
          </a:xfrm>
        </p:spPr>
        <p:txBody>
          <a:bodyPr>
            <a:normAutofit fontScale="60000"/>
          </a:bodyPr>
          <a:lstStyle/>
          <a:p>
            <a:r>
              <a:rPr lang="en-US" altLang="en-US" dirty="0"/>
              <a:t>Module 1 — User Authentication</a:t>
            </a:r>
            <a:endParaRPr lang="en-US" altLang="en-US" dirty="0"/>
          </a:p>
          <a:p>
            <a:r>
              <a:rPr lang="en-US" altLang="en-US" dirty="0"/>
              <a:t>- Registration and Login</a:t>
            </a:r>
            <a:endParaRPr lang="en-US" altLang="en-US" dirty="0"/>
          </a:p>
          <a:p>
            <a:r>
              <a:rPr lang="en-US" altLang="en-US" dirty="0"/>
              <a:t>- JWT-based authentication</a:t>
            </a:r>
            <a:endParaRPr lang="en-US" altLang="en-US" dirty="0"/>
          </a:p>
          <a:p>
            <a:r>
              <a:rPr lang="en-US" altLang="en-US" dirty="0"/>
              <a:t>- Secure user sessions</a:t>
            </a:r>
            <a:endParaRPr lang="en-US" altLang="en-US" dirty="0"/>
          </a:p>
          <a:p>
            <a:r>
              <a:rPr lang="en-US" altLang="en-US" dirty="0"/>
              <a:t>Module 2 — Contract Upload &amp; Processing</a:t>
            </a:r>
            <a:endParaRPr lang="en-US" altLang="en-US" dirty="0"/>
          </a:p>
          <a:p>
            <a:r>
              <a:rPr lang="en-US" altLang="en-US" dirty="0"/>
              <a:t>- Upload PDF/DOCX files</a:t>
            </a:r>
            <a:endParaRPr lang="en-US" altLang="en-US" dirty="0"/>
          </a:p>
          <a:p>
            <a:r>
              <a:rPr lang="en-US" altLang="en-US" dirty="0"/>
              <a:t>- Text extraction</a:t>
            </a:r>
            <a:endParaRPr lang="en-US" altLang="en-US" dirty="0"/>
          </a:p>
          <a:p>
            <a:r>
              <a:rPr lang="en-US" altLang="en-US" dirty="0"/>
              <a:t>- OCR for scanned documents</a:t>
            </a:r>
            <a:endParaRPr lang="en-US" altLang="en-US" dirty="0"/>
          </a:p>
          <a:p>
            <a:r>
              <a:rPr lang="en-US" altLang="en-US" dirty="0"/>
              <a:t>- Document preprocessing</a:t>
            </a:r>
            <a:endParaRPr lang="en-US" altLang="en-US" dirty="0"/>
          </a:p>
          <a:p>
            <a:r>
              <a:rPr lang="en-US" altLang="en-US" dirty="0"/>
              <a:t>Module 3 — AI Risk Analysis</a:t>
            </a:r>
            <a:endParaRPr lang="en-US" altLang="en-US" dirty="0"/>
          </a:p>
          <a:p>
            <a:r>
              <a:rPr lang="en-US" altLang="en-US" dirty="0"/>
              <a:t>- Detect legal and financial risks</a:t>
            </a:r>
            <a:endParaRPr lang="en-US" altLang="en-US" dirty="0"/>
          </a:p>
          <a:p>
            <a:r>
              <a:rPr lang="en-US" altLang="en-US" dirty="0"/>
              <a:t>- Risk classification: Low / Medium / High / Critical</a:t>
            </a:r>
            <a:endParaRPr lang="en-US" altLang="en-US" dirty="0"/>
          </a:p>
          <a:p>
            <a:r>
              <a:rPr lang="en-US" altLang="en-US" dirty="0"/>
              <a:t>- Risk explanation and confidence score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9" name="Text Box 8"/>
          <p:cNvSpPr txBox="1"/>
          <p:nvPr/>
        </p:nvSpPr>
        <p:spPr>
          <a:xfrm>
            <a:off x="6290945" y="1167765"/>
            <a:ext cx="5507990" cy="516572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Module 4 — Fraud &amp; Anomaly Detection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- Detect suspicious wording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- Identify contradictions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- Find hidden fees and unusual penalties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- Detect missing or undefined information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Module 5 — Contract Summary &amp; Key Insights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- Plain-language contract summary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- Important clauses and dates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- Payment, termination, renewal, liability, and IP highlights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Module 6 — Safer Alternatives &amp; Risk Dashboard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- Suggest safer clause alternatives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- Overall contract risk score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- Interactive charts and risk indicators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Module 7 — Reports &amp; History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- Generate PDF/JSON reports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- Store previous analyses</a:t>
            </a:r>
            <a:endParaRPr b="0" i="0">
              <a:solidFill>
                <a:srgbClr val="FFFFFF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- Search and compare contracts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Roboto"/>
                <a:ea typeface="Roboto"/>
              </a:rPr>
              <a:t>- Download analysis results</a:t>
            </a:r>
            <a:endParaRPr b="0" i="0">
              <a:solidFill>
                <a:schemeClr val="tx1"/>
              </a:solidFill>
              <a:latin typeface="Roboto"/>
              <a:ea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356360"/>
            <a:ext cx="10515600" cy="4820920"/>
          </a:xfrm>
        </p:spPr>
        <p:txBody>
          <a:bodyPr>
            <a:normAutofit fontScale="90000" lnSpcReduction="20000"/>
          </a:bodyPr>
          <a:lstStyle/>
          <a:p>
            <a:r>
              <a:rPr lang="en-US" altLang="en-US" sz="2335" dirty="0"/>
              <a:t>Visual Studio Code (VS Code) – Development environment</a:t>
            </a:r>
            <a:endParaRPr lang="en-US" altLang="en-US" sz="2335" dirty="0"/>
          </a:p>
          <a:p>
            <a:r>
              <a:rPr lang="en-US" altLang="en-US" sz="2335" dirty="0"/>
              <a:t>React.js + TypeScript – Frontend development</a:t>
            </a:r>
            <a:endParaRPr lang="en-US" altLang="en-US" sz="2335" dirty="0"/>
          </a:p>
          <a:p>
            <a:r>
              <a:rPr lang="en-US" altLang="en-US" sz="2335" dirty="0"/>
              <a:t>Vite – Frontend build tool</a:t>
            </a:r>
            <a:endParaRPr lang="en-US" altLang="en-US" sz="2335" dirty="0"/>
          </a:p>
          <a:p>
            <a:r>
              <a:rPr lang="en-US" altLang="en-US" sz="2335" dirty="0"/>
              <a:t>Tailwind CSS – User interface design</a:t>
            </a:r>
            <a:endParaRPr lang="en-US" altLang="en-US" sz="2335" dirty="0"/>
          </a:p>
          <a:p>
            <a:r>
              <a:rPr lang="en-US" altLang="en-US" sz="2335" dirty="0"/>
              <a:t>Python – Backend and AI development</a:t>
            </a:r>
            <a:endParaRPr lang="en-US" altLang="en-US" sz="2335" dirty="0"/>
          </a:p>
          <a:p>
            <a:r>
              <a:rPr lang="en-US" altLang="en-US" sz="2335" dirty="0"/>
              <a:t>FastAPI – Backend API development</a:t>
            </a:r>
            <a:endParaRPr lang="en-US" altLang="en-US" sz="2335" dirty="0"/>
          </a:p>
          <a:p>
            <a:r>
              <a:rPr lang="en-US" altLang="en-US" sz="2335" dirty="0"/>
              <a:t>OpenAI API – AI-based contract analysis</a:t>
            </a:r>
            <a:endParaRPr lang="en-US" altLang="en-US" sz="2335" dirty="0"/>
          </a:p>
          <a:p>
            <a:r>
              <a:rPr lang="en-US" altLang="en-US" sz="2335" dirty="0"/>
              <a:t>LangChain – AI/NLP workflow and orchestration</a:t>
            </a:r>
            <a:endParaRPr lang="en-US" altLang="en-US" sz="2335" dirty="0"/>
          </a:p>
          <a:p>
            <a:r>
              <a:rPr lang="en-US" altLang="en-US" sz="2335" dirty="0"/>
              <a:t>PyMuPDF – PDF text extraction</a:t>
            </a:r>
            <a:endParaRPr lang="en-US" altLang="en-US" sz="2335" dirty="0"/>
          </a:p>
          <a:p>
            <a:r>
              <a:rPr lang="en-US" altLang="en-US" sz="2335" dirty="0"/>
              <a:t>python-docx – DOCX document processing</a:t>
            </a:r>
            <a:endParaRPr lang="en-US" altLang="en-US" sz="2335" dirty="0"/>
          </a:p>
          <a:p>
            <a:r>
              <a:rPr lang="en-US" altLang="en-US" sz="2335" dirty="0"/>
              <a:t>Tesseract OCR – Text extraction from scanned documents</a:t>
            </a:r>
            <a:endParaRPr lang="en-US" altLang="en-US" sz="2335" dirty="0"/>
          </a:p>
          <a:p>
            <a:r>
              <a:rPr lang="en-US" altLang="en-US" sz="2335" dirty="0"/>
              <a:t>PostgreSQL – Database management</a:t>
            </a:r>
            <a:endParaRPr lang="en-US" altLang="en-US" sz="2335" dirty="0"/>
          </a:p>
          <a:p>
            <a:r>
              <a:rPr lang="en-US" altLang="en-US" sz="2335" dirty="0"/>
              <a:t>Git &amp; GitHub – Version control and project collaboration</a:t>
            </a:r>
            <a:endParaRPr lang="en-US" altLang="en-US" sz="233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</a:fld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831850" y="1149985"/>
            <a:ext cx="10521315" cy="517080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buFont typeface="Arial" panose="020B0604020202020204"/>
              <a:buChar char="•"/>
            </a:pPr>
            <a:r>
              <a:rPr sz="2400"/>
              <a:t>ContractSentinel AI simplifies contract analysis using AI and NLP.</a:t>
            </a: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 It extracts and analyzes important clauses from PDF and DOCX contracts. </a:t>
            </a: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 The system identifies potential risks, suspicious clauses, and unfavorable conditions. </a:t>
            </a: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 It provides risk explanations, safer alternatives, summaries, and an overall risk score. </a:t>
            </a: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 It makes preliminary contract review faster, easier, and more structured. </a:t>
            </a:r>
            <a:endParaRPr sz="2400"/>
          </a:p>
          <a:p>
            <a:pPr>
              <a:buFont typeface="Arial" panose="020B0604020202020204"/>
              <a:buChar char="•"/>
            </a:pPr>
            <a:r>
              <a:rPr lang="en-US" altLang="en-US" sz="2400"/>
              <a:t>Develop a premium AI analysis feature for deeper contract reasoning.</a:t>
            </a:r>
            <a:endParaRPr lang="en-US" altLang="en-US" sz="2400"/>
          </a:p>
          <a:p>
            <a:pPr>
              <a:buFont typeface="Arial" panose="020B0604020202020204"/>
              <a:buChar char="•"/>
            </a:pPr>
            <a:r>
              <a:rPr lang="en-US" altLang="en-US" sz="2400"/>
              <a:t>Add an AI Legal Chat Assistant for interactive contract-related questions.</a:t>
            </a:r>
            <a:endParaRPr lang="en-US" altLang="en-US" sz="2400"/>
          </a:p>
          <a:p>
            <a:pPr>
              <a:buFont typeface="Arial" panose="020B0604020202020204"/>
              <a:buChar char="•"/>
            </a:pPr>
            <a:r>
              <a:rPr lang="en-US" altLang="en-US" sz="2400"/>
              <a:t>Introduce an Enterprise Dashboard for organizations and legal departments.</a:t>
            </a:r>
            <a:endParaRPr lang="en-US" altLang="en-US" sz="2400"/>
          </a:p>
          <a:p>
            <a:pPr>
              <a:buFont typeface="Arial" panose="020B0604020202020204"/>
              <a:buChar char="•"/>
            </a:pPr>
            <a:r>
              <a:rPr lang="en-US" altLang="en-US" sz="2400"/>
              <a:t>Provide API access for integration with other business applications.</a:t>
            </a:r>
            <a:endParaRPr lang="en-US" altLang="en-US" sz="2400"/>
          </a:p>
          <a:p>
            <a:pPr>
              <a:buFont typeface="Arial" panose="020B0604020202020204"/>
              <a:buChar char="•"/>
            </a:pPr>
            <a:r>
              <a:rPr lang="en-US" altLang="en-US" sz="2400"/>
              <a:t>Improve AI capabilities for complex legal language and contract analysis.</a:t>
            </a:r>
            <a:endParaRPr lang="en-US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  <a:endParaRPr lang="en-IN" sz="4400" b="1" dirty="0">
              <a:solidFill>
                <a:srgbClr val="0070C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7191</Words>
  <Application>WPS Presentation</Application>
  <PresentationFormat>Widescreen</PresentationFormat>
  <Paragraphs>219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Roboto</vt:lpstr>
      <vt:lpstr>Times New Roman</vt:lpstr>
      <vt:lpstr>Arial</vt:lpstr>
      <vt:lpstr>Office Theme</vt:lpstr>
      <vt:lpstr>Custom Design</vt:lpstr>
      <vt:lpstr> 1st  REVIEW  Distributed Video Anomaly Detection in Large-Scale Surveillance Systems Using HDFS and Cluster-Visualized Federated CNN–LSTM Models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lakshmi narayana reddy b</cp:lastModifiedBy>
  <cp:revision>96</cp:revision>
  <dcterms:created xsi:type="dcterms:W3CDTF">2022-05-20T10:20:00Z</dcterms:created>
  <dcterms:modified xsi:type="dcterms:W3CDTF">2026-08-18T03:59:37Z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C81F225F99D342B6AE2CE0A7595180AA_13</vt:lpwstr>
  </property>
</Properties>
</file>